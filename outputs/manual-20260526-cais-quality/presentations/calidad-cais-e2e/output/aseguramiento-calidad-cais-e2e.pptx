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CAIS E2E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Aseguramiento de calidad del proyecto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94944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Proceso, herramientas, estrategias, resultados y siguientes pasos desarrollados durante el semestre.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379476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22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96112" y="44531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pruebas automatizadas identificadas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852928" y="379476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35808" y="44531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módulos funcionales cubiertos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992624" y="379476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POM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75504" y="44531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arquitectura de automatización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589520" y="1170432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B"/>
                </a:solidFill>
              </a:rPr>
              <a:t>Flujo de calidad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73568" y="2103120"/>
            <a:ext cx="1024128" cy="530352"/>
          </a:xfrm>
          <a:prstGeom prst="roundRect">
            <a:avLst>
              <a:gd name="adj" fmla="val 8621"/>
            </a:avLst>
          </a:prstGeom>
          <a:solidFill>
            <a:srgbClr val="EEF4F2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225856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222B"/>
                </a:solidFill>
              </a:rPr>
              <a:t>Plan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9052560" y="2286000"/>
            <a:ext cx="146304" cy="164592"/>
          </a:xfrm>
          <a:prstGeom prst="chevron">
            <a:avLst/>
          </a:prstGeom>
          <a:solidFill>
            <a:srgbClr val="D4E0D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2103120"/>
            <a:ext cx="1024128" cy="530352"/>
          </a:xfrm>
          <a:prstGeom prst="roundRect">
            <a:avLst>
              <a:gd name="adj" fmla="val 8621"/>
            </a:avLst>
          </a:prstGeom>
          <a:solidFill>
            <a:srgbClr val="EEF4F2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25856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222B"/>
                </a:solidFill>
              </a:rPr>
              <a:t>Automatizar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0222992" y="2286000"/>
            <a:ext cx="146304" cy="164592"/>
          </a:xfrm>
          <a:prstGeom prst="chevron">
            <a:avLst/>
          </a:prstGeom>
          <a:solidFill>
            <a:srgbClr val="D4E0D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14432" y="2103120"/>
            <a:ext cx="1024128" cy="530352"/>
          </a:xfrm>
          <a:prstGeom prst="roundRect">
            <a:avLst>
              <a:gd name="adj" fmla="val 862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60152" y="225856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Ejecutar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7973568" y="3063240"/>
            <a:ext cx="1024128" cy="530352"/>
          </a:xfrm>
          <a:prstGeom prst="roundRect">
            <a:avLst>
              <a:gd name="adj" fmla="val 8621"/>
            </a:avLst>
          </a:prstGeom>
          <a:solidFill>
            <a:srgbClr val="EEF4F2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9288" y="321868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222B"/>
                </a:solidFill>
              </a:rPr>
              <a:t>Validar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052560" y="3246120"/>
            <a:ext cx="146304" cy="164592"/>
          </a:xfrm>
          <a:prstGeom prst="chevron">
            <a:avLst/>
          </a:prstGeom>
          <a:solidFill>
            <a:srgbClr val="D4E0D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3063240"/>
            <a:ext cx="1024128" cy="530352"/>
          </a:xfrm>
          <a:prstGeom prst="roundRect">
            <a:avLst>
              <a:gd name="adj" fmla="val 8621"/>
            </a:avLst>
          </a:prstGeom>
          <a:solidFill>
            <a:srgbClr val="EEF4F2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321868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222B"/>
                </a:solidFill>
              </a:rPr>
              <a:t>Reportar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10222992" y="3246120"/>
            <a:ext cx="146304" cy="164592"/>
          </a:xfrm>
          <a:prstGeom prst="chevron">
            <a:avLst/>
          </a:prstGeom>
          <a:solidFill>
            <a:srgbClr val="D4E0D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14432" y="3063240"/>
            <a:ext cx="1024128" cy="530352"/>
          </a:xfrm>
          <a:prstGeom prst="roundRect">
            <a:avLst>
              <a:gd name="adj" fmla="val 862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60152" y="321868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Mejorar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7973568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Equipo de pruebas · Semestre 2026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Enfoque para asegurar la calidad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calidad se trabajó como un ciclo continuo: entender riesgos, automatizar flujos críticos y usar resultados para mejorar.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2423160" cy="33375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55648"/>
            <a:ext cx="73152" cy="3337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3852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1. Riesgo funcional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2322576"/>
            <a:ext cx="2039112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Priorizamos autenticación, control de acceso y datos clínicos/operativos por su impacto en el usuario final.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429000" y="1755648"/>
            <a:ext cx="2423160" cy="33375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755648"/>
            <a:ext cx="73152" cy="3337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3852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2. Automatización E2E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322576"/>
            <a:ext cx="2039112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Los escenarios se ejecutan desde navegador real con Selenium y se validan por URL, toasts, formularios y listas.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99632" y="1755648"/>
            <a:ext cx="2423160" cy="33375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755648"/>
            <a:ext cx="73152" cy="3337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93852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3. Reutilización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2322576"/>
            <a:ext cx="2039112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BasePage, DriverManager y Page Objects reducen duplicación y concentran esperas, clicks, escritura y navegación.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979408" y="1755648"/>
            <a:ext cx="2423160" cy="33375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79408" y="1755648"/>
            <a:ext cx="73152" cy="3337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8008" y="193852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4. Mejora continua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8008" y="2322576"/>
            <a:ext cx="2039112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Cada defecto o fricción alimenta ajustes de selectores, datos de prueba, mensajes esperados y cobertura pendiente.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utilizadas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Stack principal del proyecto para ejecutar pruebas automatizadas en navegador.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737360"/>
            <a:ext cx="312724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37360"/>
            <a:ext cx="73152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Java 17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30428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Lenguaje base del framework de pruebas.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416552" y="1737360"/>
            <a:ext cx="312724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737360"/>
            <a:ext cx="73152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Selenium 4.44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5152" y="230428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Automatización de navegador y acciones de usuario.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119872" y="1737360"/>
            <a:ext cx="312724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737360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TestNG 7.12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48472" y="230428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Estructura de pruebas, asserts y ciclo Before/After.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13232" y="3364992"/>
            <a:ext cx="312724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364992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Maven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Gestión de dependencias y compilación del proyecto.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416552" y="3364992"/>
            <a:ext cx="312724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6552" y="3364992"/>
            <a:ext cx="73152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WebDriverManager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45152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Configuración automática del driver del navegador.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119872" y="3364992"/>
            <a:ext cx="3127248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3364992"/>
            <a:ext cx="73152" cy="1170432"/>
          </a:xfrm>
          <a:prstGeom prst="rect">
            <a:avLst/>
          </a:prstGeom>
          <a:solidFill>
            <a:srgbClr val="344054"/>
          </a:solidFill>
          <a:ln w="12700">
            <a:solidFill>
              <a:srgbClr val="3440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Git + GitHub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48472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Historial, commits atómicos y trazabilidad del avance.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 automatización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El framework separa interacción, páginas y casos de prueba para mantener los escenarios legibles.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1389888" cy="621792"/>
          </a:xfrm>
          <a:prstGeom prst="roundRect">
            <a:avLst>
              <a:gd name="adj" fmla="val 8824"/>
            </a:avLst>
          </a:prstGeom>
          <a:solidFill>
            <a:srgbClr val="EEF4F2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4825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222B"/>
                </a:solidFill>
              </a:rPr>
              <a:t>TestNG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340864" y="2075688"/>
            <a:ext cx="201168" cy="201168"/>
          </a:xfrm>
          <a:prstGeom prst="chevron">
            <a:avLst/>
          </a:prstGeom>
          <a:solidFill>
            <a:srgbClr val="D4E0D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14016" y="1874520"/>
            <a:ext cx="1389888" cy="621792"/>
          </a:xfrm>
          <a:prstGeom prst="roundRect">
            <a:avLst>
              <a:gd name="adj" fmla="val 8824"/>
            </a:avLst>
          </a:prstGeom>
          <a:solidFill>
            <a:srgbClr val="EEF4F2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04825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222B"/>
                </a:solidFill>
              </a:rPr>
              <a:t>Page Object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913632" y="2075688"/>
            <a:ext cx="201168" cy="201168"/>
          </a:xfrm>
          <a:prstGeom prst="chevron">
            <a:avLst/>
          </a:prstGeom>
          <a:solidFill>
            <a:srgbClr val="D4E0D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1874520"/>
            <a:ext cx="1389888" cy="621792"/>
          </a:xfrm>
          <a:prstGeom prst="roundRect">
            <a:avLst>
              <a:gd name="adj" fmla="val 8824"/>
            </a:avLst>
          </a:prstGeom>
          <a:solidFill>
            <a:srgbClr val="EEF4F2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59936" y="204825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222B"/>
                </a:solidFill>
              </a:rPr>
              <a:t>BasePage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486400" y="2075688"/>
            <a:ext cx="201168" cy="201168"/>
          </a:xfrm>
          <a:prstGeom prst="chevron">
            <a:avLst/>
          </a:prstGeom>
          <a:solidFill>
            <a:srgbClr val="D4E0D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9552" y="1874520"/>
            <a:ext cx="1389888" cy="621792"/>
          </a:xfrm>
          <a:prstGeom prst="roundRect">
            <a:avLst>
              <a:gd name="adj" fmla="val 8824"/>
            </a:avLst>
          </a:prstGeom>
          <a:solidFill>
            <a:srgbClr val="EEF4F2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2704" y="204825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222B"/>
                </a:solidFill>
              </a:rPr>
              <a:t>Selenium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059168" y="2075688"/>
            <a:ext cx="201168" cy="201168"/>
          </a:xfrm>
          <a:prstGeom prst="chevron">
            <a:avLst/>
          </a:prstGeom>
          <a:solidFill>
            <a:srgbClr val="D4E0D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874520"/>
            <a:ext cx="1389888" cy="621792"/>
          </a:xfrm>
          <a:prstGeom prst="roundRect">
            <a:avLst>
              <a:gd name="adj" fmla="val 882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204825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App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115568" y="2962656"/>
            <a:ext cx="9509760" cy="0"/>
          </a:xfrm>
          <a:prstGeom prst="line">
            <a:avLst/>
          </a:prstGeom>
          <a:noFill/>
          <a:ln w="15240">
            <a:solidFill>
              <a:srgbClr val="D4E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401568"/>
            <a:ext cx="27432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401568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58444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BaseTest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968496"/>
            <a:ext cx="23591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Login inicial, setup común y cierre del driver.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3794760" y="3401568"/>
            <a:ext cx="27432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3401568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358444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BasePage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0" y="3968496"/>
            <a:ext cx="23591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waitFor, click, type, hover, selectFrom y lectura de toast.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766560" y="3401568"/>
            <a:ext cx="27432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3401568"/>
            <a:ext cx="73152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58444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Pages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3968496"/>
            <a:ext cx="23591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LoginPage, UsersPage, PacientesPage, EmergenciesPage, EvolutionPage.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738360" y="3401568"/>
            <a:ext cx="164592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38360" y="3401568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6960" y="358444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Tests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66960" y="3968496"/>
            <a:ext cx="12618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Escenarios E2E con asserts de negocio.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probados hasta el momento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Cobertura actual por funcionalidad y flujo crítico.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373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22B"/>
                </a:solidFill>
              </a:rPr>
              <a:t>Login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1723644"/>
            <a:ext cx="1005840" cy="301752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79222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 pruebas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11880" y="1728216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credenciales válidas, password inválido, correo no registrado, logout, título UI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77240" y="2414016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786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22B"/>
                </a:solidFill>
              </a:rPr>
              <a:t>Usuarios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77440" y="2564892"/>
            <a:ext cx="1005840" cy="301752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63347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 pruebas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11880" y="256946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invitación, correo existente, creación completa, desactivación, título UI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77240" y="3255264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4198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22B"/>
                </a:solidFill>
              </a:rPr>
              <a:t>Pacientes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3406140"/>
            <a:ext cx="1005840" cy="301752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34747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 pruebas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11880" y="3410712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registro, edición, búsqueda, sin resultados, ordenamiento, filtro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4096512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2611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22B"/>
                </a:solidFill>
              </a:rPr>
              <a:t>Emergencias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4247388"/>
            <a:ext cx="1005840" cy="301752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431596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 pruebas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11880" y="425196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alta, visualización por UUID, eliminación con toast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77240" y="4937760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51023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22B"/>
                </a:solidFill>
              </a:rPr>
              <a:t>Evolución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377440" y="5088636"/>
            <a:ext cx="1005840" cy="301752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515721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 pruebas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11880" y="5093208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alta de nota, actualización, formulario vacío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pruebas aplicadas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cobertura combina validación funcional, flujos E2E, UI básica y reglas de acceso.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246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72768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556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Funcionales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39696"/>
            <a:ext cx="286207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Creación, edición, búsqueda, filtros, invitaciones, emergencias y notas de evolución.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462272" y="1572768"/>
            <a:ext cx="3246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572768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7556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E2E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0872" y="2139696"/>
            <a:ext cx="286207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Flujos completos desde login hasta navegación y acciones dentro de módulos protegidos.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156448" y="1572768"/>
            <a:ext cx="2971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1572768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175564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UI / Smoke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85048" y="2139696"/>
            <a:ext cx="25877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Verificación de títulos visibles y componentes clave antes de ejecutar flujos más profundos.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7240" y="3337560"/>
            <a:ext cx="3246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33756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Negativas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904488"/>
            <a:ext cx="286207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Contraseña inválida, correo no registrado, paciente inexistente y formulario vacío.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462272" y="3337560"/>
            <a:ext cx="3246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2272" y="333756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352044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Seguridad de ruta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90872" y="3904488"/>
            <a:ext cx="286207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Logout y bloqueo de acceso directo a rutas protegidas como /pacientes.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156448" y="3337560"/>
            <a:ext cx="2971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3337560"/>
            <a:ext cx="73152" cy="1325880"/>
          </a:xfrm>
          <a:prstGeom prst="rect">
            <a:avLst/>
          </a:prstGeom>
          <a:solidFill>
            <a:srgbClr val="344054"/>
          </a:solidFill>
          <a:ln w="12700">
            <a:solidFill>
              <a:srgbClr val="3440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352044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Regresión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85048" y="3904488"/>
            <a:ext cx="25877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Escenarios repetibles para detectar rupturas cuando cambian formularios, toasts o navegación.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obtenidos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automatización ya permite validar comportamiento observable de los flujos principales.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22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258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escenarios automatizados identificados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999232" y="160020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82112" y="2258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módulos con cobertura E2E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230368" y="160020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13248" y="2258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tipos de evidencias: URL, toast y estado visual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333756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246120"/>
            <a:ext cx="73152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42900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Validaciones consistentes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813048"/>
            <a:ext cx="295351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Uso de Assert para comprobar mensajes, rutas, visibilidad y presencia de información en listas.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25696" y="3246120"/>
            <a:ext cx="333756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5696" y="3246120"/>
            <a:ext cx="73152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42900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Menor duplicación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54296" y="3813048"/>
            <a:ext cx="295351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Las acciones comunes viven en BasePage y los locators se concentran en Page Objects.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3246120"/>
            <a:ext cx="333756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3246120"/>
            <a:ext cx="73152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2900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Trazabilidad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93608" y="3813048"/>
            <a:ext cx="295351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Los cambios se han registrado mediante commits pequeños con tipos como feat, test, fix y refactor.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y defectos encontrados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Los hallazgos del semestre muestran dónde el framework debe endurecerse antes de crecer.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5623560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344054"/>
                </a:solidFill>
              </a:rPr>
              <a:t>Selectores frágiles en algunos módulos por uso de XPath absoluto o data-testid incompletos.</a:t>
            </a:r>
            <a:endParaRPr lang="en-US" sz="1300" dirty="0"/>
          </a:p>
          <a:p>
            <a:r>
              <a:rPr lang="en-US" sz="1300" dirty="0">
                <a:solidFill>
                  <a:srgbClr val="344054"/>
                </a:solidFill>
              </a:rPr>
              <a:t>Dependencias de mensajes exactos en toasts: cualquier cambio de copy puede romper pruebas.</a:t>
            </a:r>
            <a:endParaRPr lang="en-US" sz="1300" dirty="0"/>
          </a:p>
          <a:p>
            <a:r>
              <a:rPr lang="en-US" sz="1300" dirty="0">
                <a:solidFill>
                  <a:srgbClr val="344054"/>
                </a:solidFill>
              </a:rPr>
              <a:t>Datos de prueba compartidos: altas, búsquedas o desactivaciones pueden generar interferencia entre ejecuciones.</a:t>
            </a:r>
            <a:endParaRPr lang="en-US" sz="1300" dirty="0"/>
          </a:p>
          <a:p>
            <a:r>
              <a:rPr lang="en-US" sz="1300" dirty="0">
                <a:solidFill>
                  <a:srgbClr val="344054"/>
                </a:solidFill>
              </a:rPr>
              <a:t>Clases compiladas dentro de target aparecen versionadas, lo que agrega ruido al control de cambios.</a:t>
            </a:r>
            <a:endParaRPr lang="en-US" sz="1300" dirty="0"/>
          </a:p>
          <a:p>
            <a:r>
              <a:rPr lang="en-US" sz="1300" dirty="0">
                <a:solidFill>
                  <a:srgbClr val="344054"/>
                </a:solidFill>
              </a:rPr>
              <a:t>Algunos helpers necesitan normalización de nombres y firmas para evitar ambigüedad futura.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1755648"/>
            <a:ext cx="352044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1755648"/>
            <a:ext cx="73152" cy="2651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93852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Impacto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2322576"/>
            <a:ext cx="313639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Estos problemas no bloquean el avance, pero sí pueden afectar estabilidad, mantenimiento y velocidad de diagnóstico cuando la suite crezca.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Estrategia para las siguientes etapas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prioridad es convertir la suite actual en una base estable para regresión continua.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208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89888" y="2139696"/>
            <a:ext cx="1417320" cy="0"/>
          </a:xfrm>
          <a:prstGeom prst="line">
            <a:avLst/>
          </a:prstGeom>
          <a:noFill/>
          <a:ln w="17780">
            <a:solidFill>
              <a:srgbClr val="D4E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22B"/>
                </a:solidFill>
              </a:rPr>
              <a:t>Estabilizar selectores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1272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44054"/>
                </a:solidFill>
              </a:rPr>
              <a:t>Priorizar data-testid y eliminar XPath absoluto.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044952" y="1874520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20208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2139696"/>
            <a:ext cx="1417320" cy="0"/>
          </a:xfrm>
          <a:prstGeom prst="line">
            <a:avLst/>
          </a:prstGeom>
          <a:noFill/>
          <a:ln w="17780">
            <a:solidFill>
              <a:srgbClr val="D4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22B"/>
                </a:solidFill>
              </a:rPr>
              <a:t>Datos controlados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44952" y="31272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44054"/>
                </a:solidFill>
              </a:rPr>
              <a:t>Crear fixtures o datos únicos por ejecución.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266944" y="187452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20208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33872" y="2139696"/>
            <a:ext cx="1417320" cy="0"/>
          </a:xfrm>
          <a:prstGeom prst="line">
            <a:avLst/>
          </a:prstGeom>
          <a:noFill/>
          <a:ln w="17780">
            <a:solidFill>
              <a:srgbClr val="D4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22B"/>
                </a:solidFill>
              </a:rPr>
              <a:t>Reportes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66944" y="31272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44054"/>
                </a:solidFill>
              </a:rPr>
              <a:t>Agregar evidencia de ejecución y resultados por suite.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7488936" y="187452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53528" y="20208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55864" y="2139696"/>
            <a:ext cx="1417320" cy="0"/>
          </a:xfrm>
          <a:prstGeom prst="line">
            <a:avLst/>
          </a:prstGeom>
          <a:noFill/>
          <a:ln w="17780">
            <a:solidFill>
              <a:srgbClr val="D4E0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22B"/>
                </a:solidFill>
              </a:rPr>
              <a:t>CI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88936" y="31272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44054"/>
                </a:solidFill>
              </a:rPr>
              <a:t>Ejecutar pruebas en GitHub Actions o pipeline equivalente.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9710928" y="1874520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20208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77856" y="2139696"/>
            <a:ext cx="141732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0928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22B"/>
                </a:solidFill>
              </a:rPr>
              <a:t>Cobertura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10928" y="31272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44054"/>
                </a:solidFill>
              </a:rPr>
              <a:t>Completar flujos pendientes y casos negativos por módulo.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09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01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E2E QA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El proyecto ya cuenta con una base de QA automatizada y una ruta clara para madurarla.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324612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91640"/>
            <a:ext cx="73152" cy="2148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745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Lo logrado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258568"/>
            <a:ext cx="286207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Se automatizaron flujos críticos de autenticación, usuarios, pacientes, emergencias y notas de evolución.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462272" y="1691640"/>
            <a:ext cx="324612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691640"/>
            <a:ext cx="73152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8745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Lo aprendido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0872" y="2258568"/>
            <a:ext cx="286207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La estabilidad depende tanto del framework como de selectores, datos y mensajes consistentes.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101584" y="1691640"/>
            <a:ext cx="278892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4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691640"/>
            <a:ext cx="73152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187452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2B"/>
                </a:solidFill>
              </a:rPr>
              <a:t>Lo siguiente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0184" y="2258568"/>
            <a:ext cx="240487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44054"/>
                </a:solidFill>
              </a:rPr>
              <a:t>Integrar reportes, CI y una estrategia de datos para ejecutar regresión con confianza.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932688" y="4800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22B"/>
                </a:solidFill>
              </a:rPr>
              <a:t>Mensaje final: la calidad no se asegura con una sola prueba, sino con un proceso repetible que reduce riesgo cada vez que el sistema cambia.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5440" y="6492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8A2B3"/>
                </a:solidFill>
              </a:rPr>
              <a:t>Calidad del proyecto CAIS · 10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Aseguramiento de calidad del proyecto CAIS</dc:title>
  <dc:subject>Proceso para asegurar la calidad del proyecto CAIS</dc:subject>
  <dc:creator>Equipo CAIS</dc:creator>
  <cp:lastModifiedBy>Equipo CAIS</cp:lastModifiedBy>
  <cp:revision>1</cp:revision>
  <dcterms:created xsi:type="dcterms:W3CDTF">2026-05-26T19:53:08Z</dcterms:created>
  <dcterms:modified xsi:type="dcterms:W3CDTF">2026-05-26T19:53:08Z</dcterms:modified>
</cp:coreProperties>
</file>